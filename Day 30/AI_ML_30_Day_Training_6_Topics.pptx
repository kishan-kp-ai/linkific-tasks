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4" r:id="rId14"/>
    <p:sldId id="265" r:id="rId15"/>
    <p:sldId id="267" r:id="rId17"/>
  </p:sldIdLst>
  <p:sldSz cx="18288000" cy="10287000"/>
  <p:notesSz cx="6858000" cy="9144000"/>
  <p:embeddedFontLst>
    <p:embeddedFont>
      <p:font typeface="Arial" charset="1" panose="020B0604020202020204"/>
      <p:regular r:id="rId18"/>
    </p:embeddedFont>
    <p:embeddedFont>
      <p:font typeface="Liberation Sans Bold" charset="1" panose="020B07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7" Type="http://schemas.openxmlformats.org/officeDocument/2006/relationships/slide" Target="slides/slide12.xml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516174"/>
            </a:xfrm>
            <a:custGeom>
              <a:avLst/>
              <a:gdLst/>
              <a:ahLst/>
              <a:cxnLst/>
              <a:rect r="r" b="b" t="t" l="l"/>
              <a:pathLst>
                <a:path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91614" y="8555494"/>
            <a:ext cx="5067686" cy="702806"/>
            <a:chOff x="0" y="0"/>
            <a:chExt cx="1334699" cy="1851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4699" cy="185101"/>
            </a:xfrm>
            <a:custGeom>
              <a:avLst/>
              <a:gdLst/>
              <a:ahLst/>
              <a:cxnLst/>
              <a:rect r="r" b="b" t="t" l="l"/>
              <a:pathLst>
                <a:path h="185101" w="1334699">
                  <a:moveTo>
                    <a:pt x="92551" y="0"/>
                  </a:moveTo>
                  <a:lnTo>
                    <a:pt x="1242149" y="0"/>
                  </a:lnTo>
                  <a:cubicBezTo>
                    <a:pt x="1266694" y="0"/>
                    <a:pt x="1290235" y="9751"/>
                    <a:pt x="1307592" y="27107"/>
                  </a:cubicBezTo>
                  <a:cubicBezTo>
                    <a:pt x="1324948" y="44464"/>
                    <a:pt x="1334699" y="68005"/>
                    <a:pt x="1334699" y="92551"/>
                  </a:cubicBezTo>
                  <a:lnTo>
                    <a:pt x="1334699" y="92551"/>
                  </a:lnTo>
                  <a:cubicBezTo>
                    <a:pt x="1334699" y="143665"/>
                    <a:pt x="1293263" y="185101"/>
                    <a:pt x="1242149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34699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1028700"/>
            <a:ext cx="4198153" cy="702806"/>
            <a:chOff x="0" y="0"/>
            <a:chExt cx="1105686" cy="1851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468880" y="3063240"/>
            <a:ext cx="13716000" cy="1188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4900" b="1">
                <a:solidFill>
                  <a:srgbClr val="16345E"/>
                </a:solidFill>
                <a:latin typeface="Aptos"/>
              </a:defRPr>
            </a:pPr>
            <a:r>
              <a:t>30-DAY AI/ML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029200"/>
            <a:ext cx="11887200" cy="9144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16345E"/>
                </a:solidFill>
                <a:latin typeface="Aptos"/>
              </a:defRPr>
            </a:pPr>
            <a:r>
              <a:t>Key Concepts &amp; Practical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5806440"/>
            <a:ext cx="1097280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6345E"/>
                </a:solidFill>
                <a:latin typeface="Aptos"/>
              </a:defRPr>
            </a:pPr>
            <a:r>
              <a:t>Presented by Kishan Pauskar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1188720"/>
            <a:ext cx="7315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6345E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0">
            <a:off x="-7823725" y="4395868"/>
            <a:ext cx="14873464" cy="15397241"/>
            <a:chOff x="0" y="0"/>
            <a:chExt cx="19831285" cy="20529655"/>
          </a:xfrm>
        </p:grpSpPr>
        <p:grpSp>
          <p:nvGrpSpPr>
            <p:cNvPr name="Group 4" id="4"/>
            <p:cNvGrpSpPr/>
            <p:nvPr/>
          </p:nvGrpSpPr>
          <p:grpSpPr>
            <a:xfrm rot="-2489216">
              <a:off x="7778563" y="6647513"/>
              <a:ext cx="10267126" cy="9279420"/>
              <a:chOff x="0" y="0"/>
              <a:chExt cx="2028074" cy="183297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028074" cy="1832972"/>
              </a:xfrm>
              <a:custGeom>
                <a:avLst/>
                <a:gdLst/>
                <a:ahLst/>
                <a:cxnLst/>
                <a:rect r="r" b="b" t="t" l="l"/>
                <a:pathLst>
                  <a:path h="1832972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1832972"/>
                    </a:lnTo>
                    <a:lnTo>
                      <a:pt x="0" y="1832972"/>
                    </a:lnTo>
                    <a:close/>
                  </a:path>
                </a:pathLst>
              </a:custGeom>
              <a:solidFill>
                <a:srgbClr val="34609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2028074" cy="18710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-2489216">
              <a:off x="4782080" y="1101778"/>
              <a:ext cx="10267126" cy="18326099"/>
              <a:chOff x="0" y="0"/>
              <a:chExt cx="2028074" cy="361997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28074" cy="3619970"/>
              </a:xfrm>
              <a:custGeom>
                <a:avLst/>
                <a:gdLst/>
                <a:ahLst/>
                <a:cxnLst/>
                <a:rect r="r" b="b" t="t" l="l"/>
                <a:pathLst>
                  <a:path h="3619970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3619970"/>
                    </a:lnTo>
                    <a:lnTo>
                      <a:pt x="0" y="3619970"/>
                    </a:lnTo>
                    <a:close/>
                  </a:path>
                </a:pathLst>
              </a:custGeom>
              <a:solidFill>
                <a:srgbClr val="5EA6E7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028074" cy="36580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2489216">
              <a:off x="5570710" y="7481641"/>
              <a:ext cx="10267126" cy="2630157"/>
              <a:chOff x="0" y="0"/>
              <a:chExt cx="2028074" cy="51953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028074" cy="519537"/>
              </a:xfrm>
              <a:custGeom>
                <a:avLst/>
                <a:gdLst/>
                <a:ahLst/>
                <a:cxnLst/>
                <a:rect r="r" b="b" t="t" l="l"/>
                <a:pathLst>
                  <a:path h="519537" w="2028074">
                    <a:moveTo>
                      <a:pt x="0" y="0"/>
                    </a:moveTo>
                    <a:lnTo>
                      <a:pt x="2028074" y="0"/>
                    </a:lnTo>
                    <a:lnTo>
                      <a:pt x="2028074" y="519537"/>
                    </a:lnTo>
                    <a:lnTo>
                      <a:pt x="0" y="519537"/>
                    </a:lnTo>
                    <a:close/>
                  </a:path>
                </a:pathLst>
              </a:custGeom>
              <a:solidFill>
                <a:srgbClr val="3F70B6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028074" cy="55763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13613213" y="742557"/>
            <a:ext cx="3646087" cy="610386"/>
            <a:chOff x="0" y="0"/>
            <a:chExt cx="1105686" cy="1851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303520" y="1691640"/>
            <a:ext cx="118872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345E"/>
                </a:solidFill>
                <a:latin typeface="Aptos"/>
              </a:defRPr>
            </a:pPr>
            <a:r>
              <a:t>PYTHON PROGRAMMING &amp; DATA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0632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CORE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657600"/>
            <a:ext cx="10972800" cy="1965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Python fundamentals, data structures and file handling.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NumPy arrays, Pandas data cleaning and transformation.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Matplotlib and Seaborn for charts and insights.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608076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PRACTICAL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656832"/>
            <a:ext cx="1097280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Cleaned a student dataset with 70 records and 6 columns.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Explored descriptive statistics and marks–attendance relationships.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0" y="8778240"/>
            <a:ext cx="914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345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0" y="822960"/>
            <a:ext cx="2743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6345E"/>
                </a:solidFill>
                <a:latin typeface="Aptos"/>
              </a:defRPr>
            </a:pPr>
            <a:r>
              <a:t>OCT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13213" y="742557"/>
            <a:ext cx="3646087" cy="610386"/>
            <a:chOff x="0" y="0"/>
            <a:chExt cx="1105686" cy="1851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303520" y="1691640"/>
            <a:ext cx="118872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345E"/>
                </a:solidFill>
                <a:latin typeface="Aptos"/>
              </a:defRPr>
            </a:pPr>
            <a:r>
              <a:t>MACHINE LEARNING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0632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CORE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657600"/>
            <a:ext cx="10972800" cy="1965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Understood the ML workflow: prepare data, train, test and evaluate.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Used Scikit-learn for Logistic Regression and Decision Trees.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Learned classification, train/test split and overfitting basics.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608076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PRACTICAL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656832"/>
            <a:ext cx="1097280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Worked with 60 data points: 48 training and 12 testing.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Studied accuracy, precision, recall, F1 and confusion matrix.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0" y="8778240"/>
            <a:ext cx="914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34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0" y="822960"/>
            <a:ext cx="2743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6345E"/>
                </a:solidFill>
                <a:latin typeface="Aptos"/>
              </a:defRPr>
            </a:pPr>
            <a:r>
              <a:t>OCT 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13213" y="742557"/>
            <a:ext cx="3646087" cy="610386"/>
            <a:chOff x="0" y="0"/>
            <a:chExt cx="1105686" cy="1851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5303520" y="1691640"/>
            <a:ext cx="118872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345E"/>
                </a:solidFill>
                <a:latin typeface="Aptos"/>
              </a:defRPr>
            </a:pPr>
            <a:r>
              <a:t>LLMs &amp; TRANSFORMERS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0632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CORE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657600"/>
            <a:ext cx="10972800" cy="1965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Explored large language models and Transformer concepts.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Used Hugging Face models and text summarization pipelines.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Learned introductory Ollama and LangChain workflows.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608076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PRACTICAL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6656832"/>
            <a:ext cx="1097280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Experimented with summarization and model dependencies.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Troubleshot PyTorch / Transformers compatibility issues.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0" y="8778240"/>
            <a:ext cx="914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34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90320" y="822960"/>
            <a:ext cx="2743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6345E"/>
                </a:solidFill>
                <a:latin typeface="Aptos"/>
              </a:defRPr>
            </a:pPr>
            <a:r>
              <a:t>OCT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63993" y="4167821"/>
            <a:ext cx="5995307" cy="3740992"/>
            <a:chOff x="0" y="0"/>
            <a:chExt cx="928830" cy="5795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8830" cy="579578"/>
            </a:xfrm>
            <a:custGeom>
              <a:avLst/>
              <a:gdLst/>
              <a:ahLst/>
              <a:cxnLst/>
              <a:rect r="r" b="b" t="t" l="l"/>
              <a:pathLst>
                <a:path h="579578" w="928830">
                  <a:moveTo>
                    <a:pt x="0" y="0"/>
                  </a:moveTo>
                  <a:lnTo>
                    <a:pt x="928830" y="0"/>
                  </a:lnTo>
                  <a:lnTo>
                    <a:pt x="928830" y="579578"/>
                  </a:lnTo>
                  <a:lnTo>
                    <a:pt x="0" y="579578"/>
                  </a:lnTo>
                  <a:close/>
                </a:path>
              </a:pathLst>
            </a:custGeom>
            <a:blipFill>
              <a:blip r:embed="rId3"/>
              <a:stretch>
                <a:fillRect l="0" t="-3386" r="0" b="-338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613213" y="742557"/>
            <a:ext cx="3646087" cy="610386"/>
            <a:chOff x="0" y="0"/>
            <a:chExt cx="1105686" cy="18510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303520" y="1691640"/>
            <a:ext cx="118872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345E"/>
                </a:solidFill>
                <a:latin typeface="Aptos"/>
              </a:defRPr>
            </a:pPr>
            <a:r>
              <a:t>RETRIEVAL-AUGMENTED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0632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CORE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657600"/>
            <a:ext cx="10972800" cy="1965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RAG combines retrieved document context with LLM responses.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Pipeline: documents → chunks → retrieval → prompt → answer.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Learned why relevant context improves grounded responses.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08076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PRACTICAL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6656832"/>
            <a:ext cx="1097280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Built a basic RAG pipeline in Google Colab.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Compared chunk sizes and tested retrieved-context answers.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0" y="8778240"/>
            <a:ext cx="914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34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990320" y="822960"/>
            <a:ext cx="2743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6345E"/>
                </a:solidFill>
                <a:latin typeface="Aptos"/>
              </a:defRPr>
            </a:pPr>
            <a:r>
              <a:t>OCT 2026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613213" y="742557"/>
            <a:ext cx="3646087" cy="610386"/>
            <a:chOff x="0" y="0"/>
            <a:chExt cx="1105686" cy="1851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303520" y="1691640"/>
            <a:ext cx="118872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345E"/>
                </a:solidFill>
                <a:latin typeface="Aptos"/>
              </a:defRPr>
            </a:pPr>
            <a:r>
              <a:t>AI AGENTS &amp; FUNCTION CALLING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0632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CORE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657600"/>
            <a:ext cx="10972800" cy="1965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An AI agent chooses tools to complete a user request.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Learned tool schemas, function calls and tool-result handling.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Used a decision matrix to map requests to suitable tools.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08076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PRACTICAL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6656832"/>
            <a:ext cx="1097280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Designed tools such as calculator, search, database and file reader.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Practiced routing requests to the correct function.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276320" y="8778240"/>
            <a:ext cx="914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34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90320" y="822960"/>
            <a:ext cx="2743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6345E"/>
                </a:solidFill>
                <a:latin typeface="Aptos"/>
              </a:defRPr>
            </a:pPr>
            <a:r>
              <a:t>OCT 2026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3213" y="742557"/>
            <a:ext cx="3646087" cy="610386"/>
            <a:chOff x="0" y="0"/>
            <a:chExt cx="1105686" cy="1851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7565067">
            <a:off x="-2579135" y="-5484611"/>
            <a:ext cx="7700344" cy="6959565"/>
            <a:chOff x="0" y="0"/>
            <a:chExt cx="2028074" cy="18329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7565067">
            <a:off x="-2101040" y="-7654979"/>
            <a:ext cx="7700344" cy="9087930"/>
            <a:chOff x="0" y="0"/>
            <a:chExt cx="2028074" cy="2393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28074" cy="2393529"/>
            </a:xfrm>
            <a:custGeom>
              <a:avLst/>
              <a:gdLst/>
              <a:ahLst/>
              <a:cxnLst/>
              <a:rect r="r" b="b" t="t" l="l"/>
              <a:pathLst>
                <a:path h="2393529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2393529"/>
                  </a:lnTo>
                  <a:lnTo>
                    <a:pt x="0" y="2393529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028074" cy="2431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7565067">
            <a:off x="-560042" y="-1523419"/>
            <a:ext cx="7700344" cy="1972618"/>
            <a:chOff x="0" y="0"/>
            <a:chExt cx="2028074" cy="5195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303520" y="1691640"/>
            <a:ext cx="11887200" cy="1051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3100" b="1">
                <a:solidFill>
                  <a:srgbClr val="16345E"/>
                </a:solidFill>
                <a:latin typeface="Aptos"/>
              </a:defRPr>
            </a:pPr>
            <a:r>
              <a:t>MULTI-AGENT SYSTEMS &amp; LANGGRAPH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06324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CORE LEARNING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3657600"/>
            <a:ext cx="10972800" cy="1965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Studied state management, conditional routing and loops.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Explored agent coordination and communication flow.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Learned how specialized agents collaborate on a task.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6080760"/>
            <a:ext cx="10972800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664A2"/>
                </a:solidFill>
                <a:latin typeface="Aptos"/>
              </a:defRPr>
            </a:pPr>
            <a:r>
              <a:t>PRACTICAL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656832"/>
            <a:ext cx="10972800" cy="19202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Designed a Research Assistant with Researcher, Analyzer,</a:t>
            </a:r>
          </a:p>
          <a:p>
            <a:pPr>
              <a:spcAft>
                <a:spcPts val="1200"/>
              </a:spcAft>
              <a:defRPr sz="2000" b="0">
                <a:solidFill>
                  <a:srgbClr val="16345E"/>
                </a:solidFill>
                <a:latin typeface="Aptos"/>
              </a:defRPr>
            </a:pPr>
            <a:r>
              <a:t>Critic, Writer and Coordinator roles; documented the workflow.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0" y="8778240"/>
            <a:ext cx="9144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6345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20" y="822960"/>
            <a:ext cx="27432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6345E"/>
                </a:solidFill>
                <a:latin typeface="Aptos"/>
              </a:defRPr>
            </a:pPr>
            <a:r>
              <a:t>OCT 2026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3" id="3"/>
          <p:cNvGrpSpPr/>
          <p:nvPr/>
        </p:nvGrpSpPr>
        <p:grpSpPr>
          <a:xfrm rot="-2489216">
            <a:off x="15656490" y="-1258366"/>
            <a:ext cx="7700344" cy="6959565"/>
            <a:chOff x="0" y="0"/>
            <a:chExt cx="2028074" cy="18329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2489216">
            <a:off x="13975216" y="-8418134"/>
            <a:ext cx="7700344" cy="13744574"/>
            <a:chOff x="0" y="0"/>
            <a:chExt cx="2028074" cy="36199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2489216">
            <a:off x="-1989803" y="9381503"/>
            <a:ext cx="7700344" cy="6959565"/>
            <a:chOff x="0" y="0"/>
            <a:chExt cx="2028074" cy="1832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28074" cy="1832972"/>
            </a:xfrm>
            <a:custGeom>
              <a:avLst/>
              <a:gdLst/>
              <a:ahLst/>
              <a:cxnLst/>
              <a:rect r="r" b="b" t="t" l="l"/>
              <a:pathLst>
                <a:path h="1832972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1832972"/>
                  </a:lnTo>
                  <a:lnTo>
                    <a:pt x="0" y="1832972"/>
                  </a:ln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28074" cy="187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489216">
            <a:off x="-4237165" y="5222201"/>
            <a:ext cx="7700344" cy="13744574"/>
            <a:chOff x="0" y="0"/>
            <a:chExt cx="2028074" cy="361997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28074" cy="3619970"/>
            </a:xfrm>
            <a:custGeom>
              <a:avLst/>
              <a:gdLst/>
              <a:ahLst/>
              <a:cxnLst/>
              <a:rect r="r" b="b" t="t" l="l"/>
              <a:pathLst>
                <a:path h="3619970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3619970"/>
                  </a:lnTo>
                  <a:lnTo>
                    <a:pt x="0" y="3619970"/>
                  </a:lnTo>
                  <a:close/>
                </a:path>
              </a:pathLst>
            </a:custGeom>
            <a:solidFill>
              <a:srgbClr val="5EA6E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28074" cy="36580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2489216">
            <a:off x="14000460" y="-631168"/>
            <a:ext cx="7700344" cy="1959847"/>
            <a:chOff x="0" y="0"/>
            <a:chExt cx="2028074" cy="5161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8074" cy="516174"/>
            </a:xfrm>
            <a:custGeom>
              <a:avLst/>
              <a:gdLst/>
              <a:ahLst/>
              <a:cxnLst/>
              <a:rect r="r" b="b" t="t" l="l"/>
              <a:pathLst>
                <a:path h="516174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6174"/>
                  </a:lnTo>
                  <a:lnTo>
                    <a:pt x="0" y="516174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8074" cy="554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2489216">
            <a:off x="-3645692" y="10007098"/>
            <a:ext cx="7700344" cy="1972618"/>
            <a:chOff x="0" y="0"/>
            <a:chExt cx="2028074" cy="5195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28074" cy="519537"/>
            </a:xfrm>
            <a:custGeom>
              <a:avLst/>
              <a:gdLst/>
              <a:ahLst/>
              <a:cxnLst/>
              <a:rect r="r" b="b" t="t" l="l"/>
              <a:pathLst>
                <a:path h="519537" w="2028074">
                  <a:moveTo>
                    <a:pt x="0" y="0"/>
                  </a:moveTo>
                  <a:lnTo>
                    <a:pt x="2028074" y="0"/>
                  </a:lnTo>
                  <a:lnTo>
                    <a:pt x="2028074" y="519537"/>
                  </a:lnTo>
                  <a:lnTo>
                    <a:pt x="0" y="519537"/>
                  </a:lnTo>
                  <a:close/>
                </a:path>
              </a:pathLst>
            </a:custGeom>
            <a:solidFill>
              <a:srgbClr val="3F70B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28074" cy="557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91614" y="8555494"/>
            <a:ext cx="5067686" cy="702806"/>
            <a:chOff x="0" y="0"/>
            <a:chExt cx="1334699" cy="1851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34699" cy="185101"/>
            </a:xfrm>
            <a:custGeom>
              <a:avLst/>
              <a:gdLst/>
              <a:ahLst/>
              <a:cxnLst/>
              <a:rect r="r" b="b" t="t" l="l"/>
              <a:pathLst>
                <a:path h="185101" w="1334699">
                  <a:moveTo>
                    <a:pt x="92551" y="0"/>
                  </a:moveTo>
                  <a:lnTo>
                    <a:pt x="1242149" y="0"/>
                  </a:lnTo>
                  <a:cubicBezTo>
                    <a:pt x="1266694" y="0"/>
                    <a:pt x="1290235" y="9751"/>
                    <a:pt x="1307592" y="27107"/>
                  </a:cubicBezTo>
                  <a:cubicBezTo>
                    <a:pt x="1324948" y="44464"/>
                    <a:pt x="1334699" y="68005"/>
                    <a:pt x="1334699" y="92551"/>
                  </a:cubicBezTo>
                  <a:lnTo>
                    <a:pt x="1334699" y="92551"/>
                  </a:lnTo>
                  <a:cubicBezTo>
                    <a:pt x="1334699" y="143665"/>
                    <a:pt x="1293263" y="185101"/>
                    <a:pt x="1242149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334699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1028700"/>
            <a:ext cx="4198153" cy="702806"/>
            <a:chOff x="0" y="0"/>
            <a:chExt cx="1105686" cy="1851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5686" cy="185101"/>
            </a:xfrm>
            <a:custGeom>
              <a:avLst/>
              <a:gdLst/>
              <a:ahLst/>
              <a:cxnLst/>
              <a:rect r="r" b="b" t="t" l="l"/>
              <a:pathLst>
                <a:path h="185101" w="1105686">
                  <a:moveTo>
                    <a:pt x="92551" y="0"/>
                  </a:moveTo>
                  <a:lnTo>
                    <a:pt x="1013136" y="0"/>
                  </a:lnTo>
                  <a:cubicBezTo>
                    <a:pt x="1037682" y="0"/>
                    <a:pt x="1061222" y="9751"/>
                    <a:pt x="1078579" y="27107"/>
                  </a:cubicBezTo>
                  <a:cubicBezTo>
                    <a:pt x="1095935" y="44464"/>
                    <a:pt x="1105686" y="68005"/>
                    <a:pt x="1105686" y="92551"/>
                  </a:cubicBezTo>
                  <a:lnTo>
                    <a:pt x="1105686" y="92551"/>
                  </a:lnTo>
                  <a:cubicBezTo>
                    <a:pt x="1105686" y="143665"/>
                    <a:pt x="1064250" y="185101"/>
                    <a:pt x="1013136" y="185101"/>
                  </a:cubicBezTo>
                  <a:lnTo>
                    <a:pt x="92551" y="185101"/>
                  </a:lnTo>
                  <a:cubicBezTo>
                    <a:pt x="68005" y="185101"/>
                    <a:pt x="44464" y="175350"/>
                    <a:pt x="27107" y="157994"/>
                  </a:cubicBezTo>
                  <a:cubicBezTo>
                    <a:pt x="9751" y="140637"/>
                    <a:pt x="0" y="117097"/>
                    <a:pt x="0" y="92551"/>
                  </a:cubicBezTo>
                  <a:lnTo>
                    <a:pt x="0" y="92551"/>
                  </a:lnTo>
                  <a:cubicBezTo>
                    <a:pt x="0" y="68005"/>
                    <a:pt x="9751" y="44464"/>
                    <a:pt x="27107" y="27107"/>
                  </a:cubicBezTo>
                  <a:cubicBezTo>
                    <a:pt x="44464" y="9751"/>
                    <a:pt x="68005" y="0"/>
                    <a:pt x="92551" y="0"/>
                  </a:cubicBezTo>
                  <a:close/>
                </a:path>
              </a:pathLst>
            </a:custGeom>
            <a:solidFill>
              <a:srgbClr val="34609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05686" cy="2232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743200" y="3703320"/>
            <a:ext cx="13716000" cy="10972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5800" b="1">
                <a:solidFill>
                  <a:srgbClr val="16345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394960"/>
            <a:ext cx="10972800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6345E"/>
                </a:solidFill>
                <a:latin typeface="Aptos"/>
              </a:defRPr>
            </a:pPr>
            <a:r>
              <a:t>30-Day AI/ML Training | Kishan Pauskar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6345E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DAHXZxuOR8Y</dc:identifier>
  <dcterms:modified xsi:type="dcterms:W3CDTF">2011-08-01T06:04:30Z</dcterms:modified>
  <cp:revision>1</cp:revision>
</cp:coreProperties>
</file>